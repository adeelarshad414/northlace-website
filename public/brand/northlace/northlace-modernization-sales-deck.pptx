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34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64465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F1EF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Northlace modernization sales deck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1EF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800" dirty="0"/>
          </a:p>
        </p:txBody>
      </p:sp>
      <p:pic>
        <p:nvPicPr>
          <p:cNvPr id="4" name="Image 0" descr="/Users/adeel.arshad/Documents/Codex/2026-06-30/files-mentioned-by-the-user-00/work/deck-qa/tmp/embed-assets/northlace-mark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66928"/>
            <a:ext cx="1024128" cy="10241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676656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F1EF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Northlace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847088" y="10789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DCA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cloud. One standard.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58368" y="2359152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1EF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cloud. One standard.</a:t>
            </a:r>
            <a:endParaRPr lang="en-US" sz="3900" dirty="0"/>
          </a:p>
        </p:txBody>
      </p:sp>
      <p:sp>
        <p:nvSpPr>
          <p:cNvPr id="8" name="Text 5"/>
          <p:cNvSpPr/>
          <p:nvPr/>
        </p:nvSpPr>
        <p:spPr>
          <a:xfrm>
            <a:off x="694944" y="3273552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9FE1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 modernization, cloud, DevOps, SRE, security, FinOps, Kubernetes, Terraform, and platform governance for AWS, Azure, GCP, IBM Cloud, and hybrid estates.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731520" y="4681728"/>
            <a:ext cx="960120" cy="420624"/>
          </a:xfrm>
          <a:prstGeom prst="roundRect">
            <a:avLst/>
          </a:prstGeom>
          <a:solidFill>
            <a:srgbClr val="04342C"/>
          </a:solidFill>
          <a:ln w="13970">
            <a:solidFill>
              <a:srgbClr val="5DCAA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4773168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DCA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029968" y="4681728"/>
            <a:ext cx="960120" cy="420624"/>
          </a:xfrm>
          <a:prstGeom prst="roundRect">
            <a:avLst/>
          </a:prstGeom>
          <a:solidFill>
            <a:srgbClr val="04342C"/>
          </a:solidFill>
          <a:ln w="13970">
            <a:solidFill>
              <a:srgbClr val="5DCAA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029968" y="4773168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DCA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Shield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328416" y="4681728"/>
            <a:ext cx="960120" cy="420624"/>
          </a:xfrm>
          <a:prstGeom prst="roundRect">
            <a:avLst/>
          </a:prstGeom>
          <a:solidFill>
            <a:srgbClr val="04342C"/>
          </a:solidFill>
          <a:ln w="13970">
            <a:solidFill>
              <a:srgbClr val="5DCAA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28416" y="4773168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DCA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Ledger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626864" y="4681728"/>
            <a:ext cx="960120" cy="420624"/>
          </a:xfrm>
          <a:prstGeom prst="roundRect">
            <a:avLst/>
          </a:prstGeom>
          <a:solidFill>
            <a:srgbClr val="04342C"/>
          </a:solidFill>
          <a:ln w="13970">
            <a:solidFill>
              <a:srgbClr val="5DCAA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626864" y="4773168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DCA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Shift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64465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6E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Northlace modernization sales deck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0F6E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85216" y="384048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04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Modernization only creates value when ownership is clear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03504" y="1005840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3D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source deck's pains all point to one root cause: no single operating standard across cost, release risk, security exposure, and fragile environments.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58368" y="1737360"/>
            <a:ext cx="4892040" cy="868680"/>
          </a:xfrm>
          <a:prstGeom prst="roundRect">
            <a:avLst/>
          </a:prstGeom>
          <a:solidFill>
            <a:srgbClr val="E1F5EE"/>
          </a:solidFill>
          <a:ln w="11430">
            <a:solidFill>
              <a:srgbClr val="9FE1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1883664"/>
            <a:ext cx="4389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 has no owner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59536" y="217627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3D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spend grows without accountable owners or week-one baselines.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26480" y="1737360"/>
            <a:ext cx="4892040" cy="868680"/>
          </a:xfrm>
          <a:prstGeom prst="roundRect">
            <a:avLst/>
          </a:prstGeom>
          <a:solidFill>
            <a:srgbClr val="E1F5EE"/>
          </a:solidFill>
          <a:ln w="11430">
            <a:solidFill>
              <a:srgbClr val="9FE1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27648" y="1883664"/>
            <a:ext cx="4389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Releases feel fragile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327648" y="217627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3D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release paths make delivery slow, risky, and hard to audit.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58368" y="2907792"/>
            <a:ext cx="4892040" cy="868680"/>
          </a:xfrm>
          <a:prstGeom prst="roundRect">
            <a:avLst/>
          </a:prstGeom>
          <a:solidFill>
            <a:srgbClr val="E1F5EE"/>
          </a:solidFill>
          <a:ln w="11430">
            <a:solidFill>
              <a:srgbClr val="9FE1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" y="3054096"/>
            <a:ext cx="4389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Exposure stays open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59536" y="334670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3D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Cloud, application, and data controls are discovered late in the workflow.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26480" y="2907792"/>
            <a:ext cx="4892040" cy="868680"/>
          </a:xfrm>
          <a:prstGeom prst="roundRect">
            <a:avLst/>
          </a:prstGeom>
          <a:solidFill>
            <a:srgbClr val="E1F5EE"/>
          </a:solidFill>
          <a:ln w="11430">
            <a:solidFill>
              <a:srgbClr val="9FE1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27648" y="3054096"/>
            <a:ext cx="4389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Operations depend on heroics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27648" y="334670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3D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Drift, weak observability, and unclear runbooks stretch incident response.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94944" y="4572000"/>
            <a:ext cx="10652760" cy="804672"/>
          </a:xfrm>
          <a:prstGeom prst="roundRect">
            <a:avLst/>
          </a:prstGeom>
          <a:solidFill>
            <a:srgbClr val="04342C"/>
          </a:solidFill>
          <a:ln w="11430">
            <a:solidFill>
              <a:srgbClr val="04342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477316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F1EF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Northlace turns the scattered work into one governed motion: assess the baseline, prove value in one workload, and scale with KPI ownership.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64465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6E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Northlace modernization sales deck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0F6E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85216" y="384048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04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value case is already measurable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03504" y="1005840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3D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the source facts as a client conversation starter, then verify figures before client distribution.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85216" y="1664208"/>
            <a:ext cx="1956816" cy="1170432"/>
          </a:xfrm>
          <a:prstGeom prst="roundRect">
            <a:avLst/>
          </a:prstGeom>
          <a:solidFill>
            <a:srgbClr val="E1F5EE"/>
          </a:solidFill>
          <a:ln w="11430">
            <a:solidFill>
              <a:srgbClr val="9FE1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" y="1865376"/>
            <a:ext cx="17373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6E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84%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2267712"/>
            <a:ext cx="1664208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73D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Kubernetes in production or evaluation among surveyed cloud consumers.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852928" y="1664208"/>
            <a:ext cx="1956816" cy="1170432"/>
          </a:xfrm>
          <a:prstGeom prst="roundRect">
            <a:avLst/>
          </a:prstGeom>
          <a:solidFill>
            <a:srgbClr val="E1F5EE"/>
          </a:solidFill>
          <a:ln w="11430">
            <a:solidFill>
              <a:srgbClr val="9FE1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62656" y="1865376"/>
            <a:ext cx="17373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6E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30%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999232" y="2267712"/>
            <a:ext cx="1664208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73D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resources commonly wasted, creating immediate FinOps opportunity.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120640" y="1664208"/>
            <a:ext cx="1956816" cy="1170432"/>
          </a:xfrm>
          <a:prstGeom prst="roundRect">
            <a:avLst/>
          </a:prstGeom>
          <a:solidFill>
            <a:srgbClr val="E1F5EE"/>
          </a:solidFill>
          <a:ln w="11430">
            <a:solidFill>
              <a:srgbClr val="9FE1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30368" y="1865376"/>
            <a:ext cx="17373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6E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$4.88M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266944" y="2267712"/>
            <a:ext cx="1664208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73D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average cost of a data breach in 2024.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388352" y="1664208"/>
            <a:ext cx="1956816" cy="1170432"/>
          </a:xfrm>
          <a:prstGeom prst="roundRect">
            <a:avLst/>
          </a:prstGeom>
          <a:solidFill>
            <a:srgbClr val="E1F5EE"/>
          </a:solidFill>
          <a:ln w="11430">
            <a:solidFill>
              <a:srgbClr val="9FE1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0" y="1865376"/>
            <a:ext cx="17373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6E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534656" y="2267712"/>
            <a:ext cx="1664208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73D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Breaches involved public cloud, private cloud, and on-prem data.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656064" y="1664208"/>
            <a:ext cx="1956816" cy="1170432"/>
          </a:xfrm>
          <a:prstGeom prst="roundRect">
            <a:avLst/>
          </a:prstGeom>
          <a:solidFill>
            <a:srgbClr val="E1F5EE"/>
          </a:solidFill>
          <a:ln w="11430">
            <a:solidFill>
              <a:srgbClr val="9FE1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65792" y="1865376"/>
            <a:ext cx="17373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6E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57%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802368" y="2267712"/>
            <a:ext cx="1664208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73D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Top-performing firms broadly adopted application modernization.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13232" y="3749040"/>
            <a:ext cx="10698480" cy="1078992"/>
          </a:xfrm>
          <a:prstGeom prst="roundRect">
            <a:avLst/>
          </a:prstGeom>
          <a:solidFill>
            <a:srgbClr val="E1F5EE"/>
          </a:solidFill>
          <a:ln w="11430">
            <a:solidFill>
              <a:srgbClr val="9FE1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39319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4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this means for clients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60120" y="4334256"/>
            <a:ext cx="9829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3D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Modernization is a board-level value case across growth, resilience, security, compliance, and cost discipline. Start with a free assessment, quantify baseline pain, then fund the roadmap through quick wins.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13232" y="5596128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F6E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Sources: CNCF Annual Survey 2023, IBM Cost of a Data Breach 2024, DORA 2024. Verify figures before client distribution.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64465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6E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Northlace modernization sales deck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0F6E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85216" y="384048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04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Northlace is built for this 3S niche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03504" y="1005840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3D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sharper niche keeps the offer focused enough to sell, pilot, and measure.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58368" y="1627632"/>
            <a:ext cx="3273552" cy="3337560"/>
          </a:xfrm>
          <a:prstGeom prst="roundRect">
            <a:avLst/>
          </a:prstGeom>
          <a:solidFill>
            <a:srgbClr val="E1F5EE"/>
          </a:solidFill>
          <a:ln w="11430">
            <a:solidFill>
              <a:srgbClr val="9FE1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01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4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Specific Person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2395728"/>
            <a:ext cx="27432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3D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Growth-stage and mid-market companies on AWS, Azure, GCP, IBM Cloud, and hybrid estates. CTOs, VPs Engineering, platform leads, and cloud operations owners. TODO-COPY: tighten ICP (spend band, team size, sector).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25696" y="1627632"/>
            <a:ext cx="3273552" cy="3337560"/>
          </a:xfrm>
          <a:prstGeom prst="roundRect">
            <a:avLst/>
          </a:prstGeom>
          <a:solidFill>
            <a:srgbClr val="E1F5EE"/>
          </a:solidFill>
          <a:ln w="11430">
            <a:solidFill>
              <a:srgbClr val="9FE1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81728" y="1901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4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Specific Problem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81728" y="2395728"/>
            <a:ext cx="27432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3D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spend has no owner, releases are slow and risky, environments are fragile, and security exposure remains unresolved. The root cause is no single operating standard.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93024" y="1627632"/>
            <a:ext cx="3273552" cy="3337560"/>
          </a:xfrm>
          <a:prstGeom prst="roundRect">
            <a:avLst/>
          </a:prstGeom>
          <a:solidFill>
            <a:srgbClr val="E1F5EE"/>
          </a:solidFill>
          <a:ln w="11430">
            <a:solidFill>
              <a:srgbClr val="9FE1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49056" y="1901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4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Specific Way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449056" y="2395728"/>
            <a:ext cx="27432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3D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Northlace Standard unifies Run, Shield, Ledger, and Shift through assess -&gt; pilot -&gt; scale KPI governance.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434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64465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F1EF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Northlace modernization sales deck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1EF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85216" y="384048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1EF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Northlace Standard turns scattered work into governed progress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03504" y="1005840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9FE1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unique mechanism is not another service menu. It is the operating path from baseline to scale.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13232" y="1591056"/>
            <a:ext cx="10652760" cy="566928"/>
          </a:xfrm>
          <a:prstGeom prst="roundRect">
            <a:avLst/>
          </a:prstGeom>
          <a:solidFill>
            <a:srgbClr val="04342C"/>
          </a:solidFill>
          <a:ln w="10160">
            <a:solidFill>
              <a:srgbClr val="5DCAA5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7190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5DCA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91640" y="1691640"/>
            <a:ext cx="2743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1EF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Baseline the estate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663440" y="1700784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9FE1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Cost, risk, delivery, reliability, and modernization data are captured in week one.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713232" y="2377440"/>
            <a:ext cx="10652760" cy="566928"/>
          </a:xfrm>
          <a:prstGeom prst="roundRect">
            <a:avLst/>
          </a:prstGeom>
          <a:solidFill>
            <a:srgbClr val="04342C"/>
          </a:solidFill>
          <a:ln w="10160">
            <a:solidFill>
              <a:srgbClr val="5DCAA5">
                <a:alpha val="6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250545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5DCA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91640" y="2478024"/>
            <a:ext cx="2743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1EF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 the standard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663440" y="248716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9FE1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Run, Shield, Ledger, and Shift define the rules every workload follows.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713232" y="3163824"/>
            <a:ext cx="10652760" cy="566928"/>
          </a:xfrm>
          <a:prstGeom prst="roundRect">
            <a:avLst/>
          </a:prstGeom>
          <a:solidFill>
            <a:srgbClr val="04342C"/>
          </a:solidFill>
          <a:ln w="10160">
            <a:solidFill>
              <a:srgbClr val="5DCAA5">
                <a:alpha val="6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329184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5DCA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691640" y="3264408"/>
            <a:ext cx="2743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1EF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Prove one workload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663440" y="3273552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9FE1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90-day pilot validates the first economics, controls, and release improvements.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713232" y="3950208"/>
            <a:ext cx="10652760" cy="566928"/>
          </a:xfrm>
          <a:prstGeom prst="roundRect">
            <a:avLst/>
          </a:prstGeom>
          <a:solidFill>
            <a:srgbClr val="04342C"/>
          </a:solidFill>
          <a:ln w="10160">
            <a:solidFill>
              <a:srgbClr val="5DCAA5">
                <a:alpha val="6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407822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5DCA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691640" y="4050792"/>
            <a:ext cx="2743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1EF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 the signals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663440" y="4059936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9FE1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KPI dashboards and executive reviews keep cost, risk, speed, and reliability visible.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713232" y="4736592"/>
            <a:ext cx="10652760" cy="566928"/>
          </a:xfrm>
          <a:prstGeom prst="roundRect">
            <a:avLst/>
          </a:prstGeom>
          <a:solidFill>
            <a:srgbClr val="04342C"/>
          </a:solidFill>
          <a:ln w="10160">
            <a:solidFill>
              <a:srgbClr val="5DCAA5">
                <a:alpha val="6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2688" y="486460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5DCA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691640" y="4837176"/>
            <a:ext cx="2743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1EF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 the cadence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4663440" y="4846320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9FE1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Modernization waves expand only after the pilot proves the operating model.</a:t>
            </a:r>
            <a:endParaRPr lang="en-US" sz="11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434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64465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F1EF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Northlace modernization sales deck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1EF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85216" y="384048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1EF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90 days, prove the value before scaling the program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03504" y="1005840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9FE1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promise is measured against the client's week-one baseline, not a generic benchmark.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13232" y="1664208"/>
            <a:ext cx="5074920" cy="2880360"/>
          </a:xfrm>
          <a:prstGeom prst="roundRect">
            <a:avLst/>
          </a:prstGeom>
          <a:solidFill>
            <a:srgbClr val="04342C"/>
          </a:solidFill>
          <a:ln w="11430">
            <a:solidFill>
              <a:srgbClr val="5DCAA5">
                <a:alpha val="8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192024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5DCA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24128" y="2359152"/>
            <a:ext cx="4343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1EF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Lower cloud waste, faster and safer releases, hardened posture, and exec-grade visibility quantified against the week-one baseline.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144768" y="1664208"/>
            <a:ext cx="5074920" cy="2880360"/>
          </a:xfrm>
          <a:prstGeom prst="roundRect">
            <a:avLst/>
          </a:prstGeom>
          <a:solidFill>
            <a:srgbClr val="04342C"/>
          </a:solidFill>
          <a:ln w="11430">
            <a:solidFill>
              <a:srgbClr val="5DCAA5">
                <a:alpha val="8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55664" y="192024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5DCA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Container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55664" y="2359152"/>
            <a:ext cx="4343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1EF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90-day pilot begins with a 2-3 week assessment, then proves one workload, quick-win FinOps action, or platform capability.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49808" y="5065776"/>
            <a:ext cx="10424160" cy="621792"/>
          </a:xfrm>
          <a:prstGeom prst="roundRect">
            <a:avLst/>
          </a:prstGeom>
          <a:solidFill>
            <a:srgbClr val="5DCAA5"/>
          </a:solidFill>
          <a:ln w="11430">
            <a:solidFill>
              <a:srgbClr val="5DCAA5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5193792"/>
            <a:ext cx="9921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04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Illustrative guarantee: if the assessment does not find a fundable pilot path, Northlace turns the findings into an executive roadmap. TODO-OFFER: confirm guarantee terms. HUMAN_DECISION_GATE.</a:t>
            </a:r>
            <a:endParaRPr lang="en-US" sz="12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64465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6E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Northlace modernization sales deck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0F6E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85216" y="384048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04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pillars keep modernization balanced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03504" y="1005840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3D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pillar owns a different failure mode, but the operating cadence is shared.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664208"/>
            <a:ext cx="4892040" cy="1051560"/>
          </a:xfrm>
          <a:prstGeom prst="roundRect">
            <a:avLst/>
          </a:prstGeom>
          <a:solidFill>
            <a:srgbClr val="E1F5EE"/>
          </a:solidFill>
          <a:ln w="11430">
            <a:solidFill>
              <a:srgbClr val="9FE1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86537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4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Northlace Run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77824" y="223113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73D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Faster release paths with SLO-backed operations.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6126480" y="1664208"/>
            <a:ext cx="4892040" cy="1051560"/>
          </a:xfrm>
          <a:prstGeom prst="roundRect">
            <a:avLst/>
          </a:prstGeom>
          <a:solidFill>
            <a:srgbClr val="E1F5EE"/>
          </a:solidFill>
          <a:ln w="11430">
            <a:solidFill>
              <a:srgbClr val="9FE1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64224" y="186537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4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Northlace Shield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364224" y="223113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73D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Controls embedded into delivery instead of bolted on late.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640080" y="3145536"/>
            <a:ext cx="4892040" cy="1051560"/>
          </a:xfrm>
          <a:prstGeom prst="roundRect">
            <a:avLst/>
          </a:prstGeom>
          <a:solidFill>
            <a:srgbClr val="E1F5EE"/>
          </a:solidFill>
          <a:ln w="11430">
            <a:solidFill>
              <a:srgbClr val="9FE1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" y="33467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4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Northlace Ledger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77824" y="371246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73D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cloud decision gets a cost signal people can act on.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6126480" y="3145536"/>
            <a:ext cx="4892040" cy="1051560"/>
          </a:xfrm>
          <a:prstGeom prst="roundRect">
            <a:avLst/>
          </a:prstGeom>
          <a:solidFill>
            <a:srgbClr val="E1F5EE"/>
          </a:solidFill>
          <a:ln w="11430">
            <a:solidFill>
              <a:srgbClr val="9FE1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64224" y="33467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4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Northlace Shift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64224" y="371246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73D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Migration and modernization move in waves teams can absorb.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713232" y="5175504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F6E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Northlace Run: DevOps, SRE, CI/CD, and observability.  Northlace Shield: Security, compliance, and IaC governance.  Northlace Ledger: FinOps and cloud cost optimization.  Northlace Shift: Migrations, modernization, and AI-native adoption.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64465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6E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Northlace modernization sales deck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0F6E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85216" y="384048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04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service portfolio maps into one operating model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03504" y="1005840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3D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source catalog stays intact, but buyers see where each service fits inside Northlace.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591056"/>
            <a:ext cx="4892040" cy="914400"/>
          </a:xfrm>
          <a:prstGeom prst="roundRect">
            <a:avLst/>
          </a:prstGeom>
          <a:solidFill>
            <a:srgbClr val="E1F5EE"/>
          </a:solidFill>
          <a:ln w="11430">
            <a:solidFill>
              <a:srgbClr val="9FE1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17373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6E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847088" y="175564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73D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CI/CD, IaC, SRE, observability, CloudOps, incident response, runbooks.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6126480" y="1591056"/>
            <a:ext cx="4892040" cy="914400"/>
          </a:xfrm>
          <a:prstGeom prst="roundRect">
            <a:avLst/>
          </a:prstGeom>
          <a:solidFill>
            <a:srgbClr val="E1F5EE"/>
          </a:solidFill>
          <a:ln w="11430">
            <a:solidFill>
              <a:srgbClr val="9FE1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45936" y="17373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6E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Shield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33488" y="175564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73D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security, AppSec, penetration testing, encryption, policy, evidence.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640080" y="2898648"/>
            <a:ext cx="4892040" cy="914400"/>
          </a:xfrm>
          <a:prstGeom prst="roundRect">
            <a:avLst/>
          </a:prstGeom>
          <a:solidFill>
            <a:srgbClr val="E1F5EE"/>
          </a:solidFill>
          <a:ln w="11430">
            <a:solidFill>
              <a:srgbClr val="9FE1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" y="304495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6E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Ledger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847088" y="306324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73D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 assessment, rightsizing, commitment planning, budgets, forecasts.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6126480" y="2898648"/>
            <a:ext cx="4892040" cy="914400"/>
          </a:xfrm>
          <a:prstGeom prst="roundRect">
            <a:avLst/>
          </a:prstGeom>
          <a:solidFill>
            <a:srgbClr val="E1F5EE"/>
          </a:solidFill>
          <a:ln w="11430">
            <a:solidFill>
              <a:srgbClr val="9FE1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45936" y="304495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6E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Shift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333488" y="306324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73D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Modernization, migration, container platforms, data, AI-native workflows.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713232" y="4572000"/>
            <a:ext cx="10561320" cy="713232"/>
          </a:xfrm>
          <a:prstGeom prst="roundRect">
            <a:avLst/>
          </a:prstGeom>
          <a:solidFill>
            <a:srgbClr val="04342C"/>
          </a:solidFill>
          <a:ln w="11430">
            <a:solidFill>
              <a:srgbClr val="04342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4754880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dirty="0">
                <a:solidFill>
                  <a:srgbClr val="F1EF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 models: free assessment, advisory roadmap, project delivery, modernization factory, platform squad, or managed operations.</a:t>
            </a:r>
            <a:endParaRPr lang="en-US" sz="13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64465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6E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Northlace modernization sales deck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0F6E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85216" y="384048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04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 moves from baseline to operating cadence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03504" y="1005840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3D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source five-phase path is preserved with spacing that keeps step labels, timing, and artifacts readable.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8912" y="1627632"/>
            <a:ext cx="1993392" cy="2926080"/>
          </a:xfrm>
          <a:prstGeom prst="roundRect">
            <a:avLst/>
          </a:prstGeom>
          <a:solidFill>
            <a:srgbClr val="E1F5EE"/>
          </a:solidFill>
          <a:ln w="11430">
            <a:solidFill>
              <a:srgbClr val="9FE1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901952"/>
            <a:ext cx="1664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04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Assess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585216" y="2304288"/>
            <a:ext cx="1664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0F6E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2-3 weeks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2816352"/>
            <a:ext cx="1554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173D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state, cost, risk, security, architecture, and readiness baseline.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2743200" y="1627632"/>
            <a:ext cx="1993392" cy="2926080"/>
          </a:xfrm>
          <a:prstGeom prst="roundRect">
            <a:avLst/>
          </a:prstGeom>
          <a:solidFill>
            <a:srgbClr val="E1F5EE"/>
          </a:solidFill>
          <a:ln w="11430">
            <a:solidFill>
              <a:srgbClr val="9FE1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89504" y="1901952"/>
            <a:ext cx="1664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04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Design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2889504" y="2304288"/>
            <a:ext cx="1664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0F6E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2-4 weeks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944368" y="2816352"/>
            <a:ext cx="1554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173D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case, target architecture, backlog, landing zone, and KPI model.</a:t>
            </a:r>
            <a:endParaRPr lang="en-US" sz="940" dirty="0"/>
          </a:p>
        </p:txBody>
      </p:sp>
      <p:sp>
        <p:nvSpPr>
          <p:cNvPr id="14" name="Shape 12"/>
          <p:cNvSpPr/>
          <p:nvPr/>
        </p:nvSpPr>
        <p:spPr>
          <a:xfrm>
            <a:off x="5047488" y="1627632"/>
            <a:ext cx="1993392" cy="2926080"/>
          </a:xfrm>
          <a:prstGeom prst="roundRect">
            <a:avLst/>
          </a:prstGeom>
          <a:solidFill>
            <a:srgbClr val="E1F5EE"/>
          </a:solidFill>
          <a:ln w="11430">
            <a:solidFill>
              <a:srgbClr val="9FE1C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93792" y="1901952"/>
            <a:ext cx="1664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04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Pilot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5193792" y="2304288"/>
            <a:ext cx="1664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0F6E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4-8 weeks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248656" y="2816352"/>
            <a:ext cx="1554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173D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Priority app, migration wave, FinOps quick wins, or platform capability.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7351776" y="1627632"/>
            <a:ext cx="1993392" cy="2926080"/>
          </a:xfrm>
          <a:prstGeom prst="roundRect">
            <a:avLst/>
          </a:prstGeom>
          <a:solidFill>
            <a:srgbClr val="E1F5EE"/>
          </a:solidFill>
          <a:ln w="11430">
            <a:solidFill>
              <a:srgbClr val="9FE1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0" y="1901952"/>
            <a:ext cx="1664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04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Scale</a:t>
            </a:r>
            <a:endParaRPr lang="en-US" sz="1420" dirty="0"/>
          </a:p>
        </p:txBody>
      </p:sp>
      <p:sp>
        <p:nvSpPr>
          <p:cNvPr id="20" name="Text 18"/>
          <p:cNvSpPr/>
          <p:nvPr/>
        </p:nvSpPr>
        <p:spPr>
          <a:xfrm>
            <a:off x="7498080" y="2304288"/>
            <a:ext cx="1664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0F6E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Quarterly waves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552944" y="2816352"/>
            <a:ext cx="1554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173D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Modernization factory, migration factory, or platform engineering squad.</a:t>
            </a:r>
            <a:endParaRPr lang="en-US" sz="940" dirty="0"/>
          </a:p>
        </p:txBody>
      </p:sp>
      <p:sp>
        <p:nvSpPr>
          <p:cNvPr id="22" name="Shape 20"/>
          <p:cNvSpPr/>
          <p:nvPr/>
        </p:nvSpPr>
        <p:spPr>
          <a:xfrm>
            <a:off x="9656064" y="1627632"/>
            <a:ext cx="1993392" cy="2926080"/>
          </a:xfrm>
          <a:prstGeom prst="roundRect">
            <a:avLst/>
          </a:prstGeom>
          <a:solidFill>
            <a:srgbClr val="E1F5EE"/>
          </a:solidFill>
          <a:ln w="11430">
            <a:solidFill>
              <a:srgbClr val="9FE1C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02368" y="1901952"/>
            <a:ext cx="1664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04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 Operate</a:t>
            </a:r>
            <a:endParaRPr lang="en-US" sz="1420" dirty="0"/>
          </a:p>
        </p:txBody>
      </p:sp>
      <p:sp>
        <p:nvSpPr>
          <p:cNvPr id="24" name="Text 22"/>
          <p:cNvSpPr/>
          <p:nvPr/>
        </p:nvSpPr>
        <p:spPr>
          <a:xfrm>
            <a:off x="9802368" y="2304288"/>
            <a:ext cx="1664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0F6E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857232" y="2816352"/>
            <a:ext cx="1554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173D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SRE, CloudOps, FinOps, security governance, and managed improvement.</a:t>
            </a:r>
            <a:endParaRPr lang="en-US" sz="940" dirty="0"/>
          </a:p>
        </p:txBody>
      </p:sp>
      <p:sp>
        <p:nvSpPr>
          <p:cNvPr id="26" name="Text 24"/>
          <p:cNvSpPr/>
          <p:nvPr/>
        </p:nvSpPr>
        <p:spPr>
          <a:xfrm>
            <a:off x="749808" y="5230368"/>
            <a:ext cx="10241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0F6E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 cadence: weekly delivery review, fortnightly architecture and risk review, monthly value realization, and executive steering.</a:t>
            </a:r>
            <a:endParaRPr lang="en-US" sz="12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64465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6E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Northlace modernization sales deck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0F6E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85216" y="384048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04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pilot has a clear 90-day onboarding path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03504" y="1005840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3D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buyer can see exactly what happens before they commit to scale.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86384" y="1481328"/>
            <a:ext cx="10469880" cy="548640"/>
          </a:xfrm>
          <a:prstGeom prst="roundRect">
            <a:avLst/>
          </a:prstGeom>
          <a:solidFill>
            <a:srgbClr val="E1F5EE"/>
          </a:solidFill>
          <a:ln w="11430">
            <a:solidFill>
              <a:srgbClr val="9FE1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1609344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6E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487168" y="1600200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3D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 sponsor, workload candidate, data access, meeting rhythm, and success definition.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86384" y="2286000"/>
            <a:ext cx="10469880" cy="548640"/>
          </a:xfrm>
          <a:prstGeom prst="roundRect">
            <a:avLst/>
          </a:prstGeom>
          <a:solidFill>
            <a:srgbClr val="E1F5EE"/>
          </a:solidFill>
          <a:ln w="11430">
            <a:solidFill>
              <a:srgbClr val="9FE1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2414016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6E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487168" y="2404872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3D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 cloud spend, delivery, reliability, security, and architecture baselines.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86384" y="3090672"/>
            <a:ext cx="10469880" cy="548640"/>
          </a:xfrm>
          <a:prstGeom prst="roundRect">
            <a:avLst/>
          </a:prstGeom>
          <a:solidFill>
            <a:srgbClr val="E1F5EE"/>
          </a:solidFill>
          <a:ln w="11430">
            <a:solidFill>
              <a:srgbClr val="9FE1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4128" y="3218688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6E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Weeks 2-3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487168" y="3209544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3D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scorecard, roadmap, pilot scope, KPI model, and fundable quick-win backlog.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86384" y="3895344"/>
            <a:ext cx="10469880" cy="548640"/>
          </a:xfrm>
          <a:prstGeom prst="roundRect">
            <a:avLst/>
          </a:prstGeom>
          <a:solidFill>
            <a:srgbClr val="E1F5EE"/>
          </a:solidFill>
          <a:ln w="11430">
            <a:solidFill>
              <a:srgbClr val="9FE1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4128" y="4023360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6E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Weeks 4-12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487168" y="4014216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3D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Execute one workload or capability with weekly delivery reviews and value tracking.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86384" y="4700016"/>
            <a:ext cx="10469880" cy="548640"/>
          </a:xfrm>
          <a:prstGeom prst="roundRect">
            <a:avLst/>
          </a:prstGeom>
          <a:solidFill>
            <a:srgbClr val="E1F5EE"/>
          </a:solidFill>
          <a:ln w="11430">
            <a:solidFill>
              <a:srgbClr val="9FE1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4128" y="4828032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6E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90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487168" y="481888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3D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 results, lessons, scale options, and operate cadence for the next wave.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64465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6E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Northlace modernization sales deck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0F6E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85216" y="384048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04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stage produces evidence leadership can use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03504" y="1005840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3D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deliverables make the operating standard visible, auditable, and fundable.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3246120" cy="932688"/>
          </a:xfrm>
          <a:prstGeom prst="roundRect">
            <a:avLst/>
          </a:prstGeom>
          <a:solidFill>
            <a:srgbClr val="E1F5EE"/>
          </a:solidFill>
          <a:ln w="11430">
            <a:solidFill>
              <a:srgbClr val="9FE1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755648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b="1" dirty="0">
                <a:solidFill>
                  <a:srgbClr val="04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Assessment pack</a:t>
            </a:r>
            <a:endParaRPr lang="en-US" sz="1430" dirty="0"/>
          </a:p>
        </p:txBody>
      </p:sp>
      <p:sp>
        <p:nvSpPr>
          <p:cNvPr id="8" name="Text 6"/>
          <p:cNvSpPr/>
          <p:nvPr/>
        </p:nvSpPr>
        <p:spPr>
          <a:xfrm>
            <a:off x="841248" y="2075688"/>
            <a:ext cx="2779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90" dirty="0">
                <a:solidFill>
                  <a:srgbClr val="173D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Readiness scorecard, technical debt map, dependency map, risk and cost baseline.</a:t>
            </a:r>
            <a:endParaRPr lang="en-US" sz="990" dirty="0"/>
          </a:p>
        </p:txBody>
      </p:sp>
      <p:sp>
        <p:nvSpPr>
          <p:cNvPr id="9" name="Shape 7"/>
          <p:cNvSpPr/>
          <p:nvPr/>
        </p:nvSpPr>
        <p:spPr>
          <a:xfrm>
            <a:off x="4370832" y="1600200"/>
            <a:ext cx="3246120" cy="932688"/>
          </a:xfrm>
          <a:prstGeom prst="roundRect">
            <a:avLst/>
          </a:prstGeom>
          <a:solidFill>
            <a:srgbClr val="E1F5EE"/>
          </a:solidFill>
          <a:ln w="11430">
            <a:solidFill>
              <a:srgbClr val="9FE1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755648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b="1" dirty="0">
                <a:solidFill>
                  <a:srgbClr val="04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pack</a:t>
            </a:r>
            <a:endParaRPr lang="en-US" sz="1430" dirty="0"/>
          </a:p>
        </p:txBody>
      </p:sp>
      <p:sp>
        <p:nvSpPr>
          <p:cNvPr id="11" name="Text 9"/>
          <p:cNvSpPr/>
          <p:nvPr/>
        </p:nvSpPr>
        <p:spPr>
          <a:xfrm>
            <a:off x="4572000" y="2075688"/>
            <a:ext cx="2779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90" dirty="0">
                <a:solidFill>
                  <a:srgbClr val="173D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Target-state blueprint, landing zone design, security model, governance model.</a:t>
            </a:r>
            <a:endParaRPr lang="en-US" sz="990" dirty="0"/>
          </a:p>
        </p:txBody>
      </p:sp>
      <p:sp>
        <p:nvSpPr>
          <p:cNvPr id="12" name="Shape 10"/>
          <p:cNvSpPr/>
          <p:nvPr/>
        </p:nvSpPr>
        <p:spPr>
          <a:xfrm>
            <a:off x="8101584" y="1600200"/>
            <a:ext cx="3246120" cy="932688"/>
          </a:xfrm>
          <a:prstGeom prst="roundRect">
            <a:avLst/>
          </a:prstGeom>
          <a:solidFill>
            <a:srgbClr val="E1F5EE"/>
          </a:solidFill>
          <a:ln w="11430">
            <a:solidFill>
              <a:srgbClr val="9FE1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02752" y="1755648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b="1" dirty="0">
                <a:solidFill>
                  <a:srgbClr val="04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Execution pack</a:t>
            </a:r>
            <a:endParaRPr lang="en-US" sz="1430" dirty="0"/>
          </a:p>
        </p:txBody>
      </p:sp>
      <p:sp>
        <p:nvSpPr>
          <p:cNvPr id="14" name="Text 12"/>
          <p:cNvSpPr/>
          <p:nvPr/>
        </p:nvSpPr>
        <p:spPr>
          <a:xfrm>
            <a:off x="8302752" y="2075688"/>
            <a:ext cx="2779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90" dirty="0">
                <a:solidFill>
                  <a:srgbClr val="173D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Migration playbooks, IaC modules, CI/CD templates, test and cutover plans.</a:t>
            </a:r>
            <a:endParaRPr lang="en-US" sz="990" dirty="0"/>
          </a:p>
        </p:txBody>
      </p:sp>
      <p:sp>
        <p:nvSpPr>
          <p:cNvPr id="15" name="Shape 13"/>
          <p:cNvSpPr/>
          <p:nvPr/>
        </p:nvSpPr>
        <p:spPr>
          <a:xfrm>
            <a:off x="640080" y="2935224"/>
            <a:ext cx="3246120" cy="932688"/>
          </a:xfrm>
          <a:prstGeom prst="roundRect">
            <a:avLst/>
          </a:prstGeom>
          <a:solidFill>
            <a:srgbClr val="E1F5EE"/>
          </a:solidFill>
          <a:ln w="11430">
            <a:solidFill>
              <a:srgbClr val="9FE1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3090672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b="1" dirty="0">
                <a:solidFill>
                  <a:srgbClr val="04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Operations pack</a:t>
            </a:r>
            <a:endParaRPr lang="en-US" sz="1430" dirty="0"/>
          </a:p>
        </p:txBody>
      </p:sp>
      <p:sp>
        <p:nvSpPr>
          <p:cNvPr id="17" name="Text 15"/>
          <p:cNvSpPr/>
          <p:nvPr/>
        </p:nvSpPr>
        <p:spPr>
          <a:xfrm>
            <a:off x="841248" y="3410712"/>
            <a:ext cx="2779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90" dirty="0">
                <a:solidFill>
                  <a:srgbClr val="173D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Dashboards, runbooks, SLO/error budget model, FinOps reporting.</a:t>
            </a:r>
            <a:endParaRPr lang="en-US" sz="990" dirty="0"/>
          </a:p>
        </p:txBody>
      </p:sp>
      <p:sp>
        <p:nvSpPr>
          <p:cNvPr id="18" name="Shape 16"/>
          <p:cNvSpPr/>
          <p:nvPr/>
        </p:nvSpPr>
        <p:spPr>
          <a:xfrm>
            <a:off x="4370832" y="2935224"/>
            <a:ext cx="3246120" cy="932688"/>
          </a:xfrm>
          <a:prstGeom prst="roundRect">
            <a:avLst/>
          </a:prstGeom>
          <a:solidFill>
            <a:srgbClr val="E1F5EE"/>
          </a:solidFill>
          <a:ln w="11430">
            <a:solidFill>
              <a:srgbClr val="9FE1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3090672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b="1" dirty="0">
                <a:solidFill>
                  <a:srgbClr val="04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pack</a:t>
            </a:r>
            <a:endParaRPr lang="en-US" sz="1430" dirty="0"/>
          </a:p>
        </p:txBody>
      </p:sp>
      <p:sp>
        <p:nvSpPr>
          <p:cNvPr id="20" name="Text 18"/>
          <p:cNvSpPr/>
          <p:nvPr/>
        </p:nvSpPr>
        <p:spPr>
          <a:xfrm>
            <a:off x="4572000" y="3410712"/>
            <a:ext cx="2779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90" dirty="0">
                <a:solidFill>
                  <a:srgbClr val="173D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Vulnerability report, remediation roadmap, retest evidence, compliance mapping.</a:t>
            </a:r>
            <a:endParaRPr lang="en-US" sz="990" dirty="0"/>
          </a:p>
        </p:txBody>
      </p:sp>
      <p:sp>
        <p:nvSpPr>
          <p:cNvPr id="21" name="Shape 19"/>
          <p:cNvSpPr/>
          <p:nvPr/>
        </p:nvSpPr>
        <p:spPr>
          <a:xfrm>
            <a:off x="8101584" y="2935224"/>
            <a:ext cx="3246120" cy="932688"/>
          </a:xfrm>
          <a:prstGeom prst="roundRect">
            <a:avLst/>
          </a:prstGeom>
          <a:solidFill>
            <a:srgbClr val="E1F5EE"/>
          </a:solidFill>
          <a:ln w="11430">
            <a:solidFill>
              <a:srgbClr val="9FE1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02752" y="3090672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b="1" dirty="0">
                <a:solidFill>
                  <a:srgbClr val="04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Value pack</a:t>
            </a:r>
            <a:endParaRPr lang="en-US" sz="1430" dirty="0"/>
          </a:p>
        </p:txBody>
      </p:sp>
      <p:sp>
        <p:nvSpPr>
          <p:cNvPr id="23" name="Text 21"/>
          <p:cNvSpPr/>
          <p:nvPr/>
        </p:nvSpPr>
        <p:spPr>
          <a:xfrm>
            <a:off x="8302752" y="3410712"/>
            <a:ext cx="2779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90" dirty="0">
                <a:solidFill>
                  <a:srgbClr val="173D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ROI model, KPI dashboard, quick wins backlog, executive roadmap.</a:t>
            </a:r>
            <a:endParaRPr lang="en-US" sz="990" dirty="0"/>
          </a:p>
        </p:txBody>
      </p:sp>
      <p:sp>
        <p:nvSpPr>
          <p:cNvPr id="24" name="Text 22"/>
          <p:cNvSpPr/>
          <p:nvPr/>
        </p:nvSpPr>
        <p:spPr>
          <a:xfrm>
            <a:off x="713232" y="5029200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dirty="0">
                <a:solidFill>
                  <a:srgbClr val="0F6E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 KPIs: delivery, reliability, cost, security, modernization, and adoption.</a:t>
            </a:r>
            <a:endParaRPr lang="en-US" sz="13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64465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6E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Northlace modernization sales deck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0F6E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85216" y="384048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04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Proof points stay anonymized until evidence is approved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03504" y="1005840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3D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Representative outcomes are useful in conversation, but external distribution needs client-approved evidence.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572768"/>
            <a:ext cx="3246120" cy="877824"/>
          </a:xfrm>
          <a:prstGeom prst="roundRect">
            <a:avLst/>
          </a:prstGeom>
          <a:solidFill>
            <a:srgbClr val="E1F5EE"/>
          </a:solidFill>
          <a:ln w="11430">
            <a:solidFill>
              <a:srgbClr val="9FE1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70992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b="1" dirty="0">
                <a:solidFill>
                  <a:srgbClr val="0F6E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40% cloud cost reduction</a:t>
            </a:r>
            <a:endParaRPr lang="en-US" sz="1360" dirty="0"/>
          </a:p>
        </p:txBody>
      </p:sp>
      <p:sp>
        <p:nvSpPr>
          <p:cNvPr id="8" name="Text 6"/>
          <p:cNvSpPr/>
          <p:nvPr/>
        </p:nvSpPr>
        <p:spPr>
          <a:xfrm>
            <a:off x="822960" y="2002536"/>
            <a:ext cx="2779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73D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Analytics platform optimization story: monitoring, waste reduction, and cost control.</a:t>
            </a:r>
            <a:endParaRPr lang="en-US" sz="960" dirty="0"/>
          </a:p>
        </p:txBody>
      </p:sp>
      <p:sp>
        <p:nvSpPr>
          <p:cNvPr id="9" name="Shape 7"/>
          <p:cNvSpPr/>
          <p:nvPr/>
        </p:nvSpPr>
        <p:spPr>
          <a:xfrm>
            <a:off x="4370832" y="1572768"/>
            <a:ext cx="3246120" cy="877824"/>
          </a:xfrm>
          <a:prstGeom prst="roundRect">
            <a:avLst/>
          </a:prstGeom>
          <a:solidFill>
            <a:srgbClr val="E1F5EE"/>
          </a:solidFill>
          <a:ln w="11430">
            <a:solidFill>
              <a:srgbClr val="9FE1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53712" y="170992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b="1" dirty="0">
                <a:solidFill>
                  <a:srgbClr val="0F6E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72% faster deployments</a:t>
            </a:r>
            <a:endParaRPr lang="en-US" sz="1360" dirty="0"/>
          </a:p>
        </p:txBody>
      </p:sp>
      <p:sp>
        <p:nvSpPr>
          <p:cNvPr id="11" name="Text 9"/>
          <p:cNvSpPr/>
          <p:nvPr/>
        </p:nvSpPr>
        <p:spPr>
          <a:xfrm>
            <a:off x="4553712" y="2002536"/>
            <a:ext cx="2779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73D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engineering story: IaC and GitOps changed releases from days to minutes.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8101584" y="1572768"/>
            <a:ext cx="3246120" cy="877824"/>
          </a:xfrm>
          <a:prstGeom prst="roundRect">
            <a:avLst/>
          </a:prstGeom>
          <a:solidFill>
            <a:srgbClr val="E1F5EE"/>
          </a:solidFill>
          <a:ln w="11430">
            <a:solidFill>
              <a:srgbClr val="9FE1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84464" y="170992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b="1" dirty="0">
                <a:solidFill>
                  <a:srgbClr val="0F6E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95% critical vulns remediated</a:t>
            </a:r>
            <a:endParaRPr lang="en-US" sz="1360" dirty="0"/>
          </a:p>
        </p:txBody>
      </p:sp>
      <p:sp>
        <p:nvSpPr>
          <p:cNvPr id="14" name="Text 12"/>
          <p:cNvSpPr/>
          <p:nvPr/>
        </p:nvSpPr>
        <p:spPr>
          <a:xfrm>
            <a:off x="8284464" y="2002536"/>
            <a:ext cx="2779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73D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testing story: phased testing and remediation validation.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640080" y="2816352"/>
            <a:ext cx="3246120" cy="877824"/>
          </a:xfrm>
          <a:prstGeom prst="roundRect">
            <a:avLst/>
          </a:prstGeom>
          <a:solidFill>
            <a:srgbClr val="E1F5EE"/>
          </a:solidFill>
          <a:ln w="11430">
            <a:solidFill>
              <a:srgbClr val="9FE1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295351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b="1" dirty="0">
                <a:solidFill>
                  <a:srgbClr val="0F6E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1.2M+ users supported</a:t>
            </a:r>
            <a:endParaRPr lang="en-US" sz="1360" dirty="0"/>
          </a:p>
        </p:txBody>
      </p:sp>
      <p:sp>
        <p:nvSpPr>
          <p:cNvPr id="17" name="Text 15"/>
          <p:cNvSpPr/>
          <p:nvPr/>
        </p:nvSpPr>
        <p:spPr>
          <a:xfrm>
            <a:off x="822960" y="3246120"/>
            <a:ext cx="2779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73D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 modernization story for healthcare and wellness scale.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4370832" y="2816352"/>
            <a:ext cx="3246120" cy="877824"/>
          </a:xfrm>
          <a:prstGeom prst="roundRect">
            <a:avLst/>
          </a:prstGeom>
          <a:solidFill>
            <a:srgbClr val="E1F5EE"/>
          </a:solidFill>
          <a:ln w="11430">
            <a:solidFill>
              <a:srgbClr val="9FE1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53712" y="295351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b="1" dirty="0">
                <a:solidFill>
                  <a:srgbClr val="0F6E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10,000+ systems tracked</a:t>
            </a:r>
            <a:endParaRPr lang="en-US" sz="1360" dirty="0"/>
          </a:p>
        </p:txBody>
      </p:sp>
      <p:sp>
        <p:nvSpPr>
          <p:cNvPr id="20" name="Text 18"/>
          <p:cNvSpPr/>
          <p:nvPr/>
        </p:nvSpPr>
        <p:spPr>
          <a:xfrm>
            <a:off x="4553712" y="3246120"/>
            <a:ext cx="2779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73D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mobility story for IP litigation workflow.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8101584" y="2816352"/>
            <a:ext cx="3246120" cy="877824"/>
          </a:xfrm>
          <a:prstGeom prst="roundRect">
            <a:avLst/>
          </a:prstGeom>
          <a:solidFill>
            <a:srgbClr val="E1F5EE"/>
          </a:solidFill>
          <a:ln w="11430">
            <a:solidFill>
              <a:srgbClr val="9FE1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84464" y="295351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b="1" dirty="0">
                <a:solidFill>
                  <a:srgbClr val="0F6E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30+ countries standardized</a:t>
            </a:r>
            <a:endParaRPr lang="en-US" sz="1360" dirty="0"/>
          </a:p>
        </p:txBody>
      </p:sp>
      <p:sp>
        <p:nvSpPr>
          <p:cNvPr id="23" name="Text 21"/>
          <p:cNvSpPr/>
          <p:nvPr/>
        </p:nvSpPr>
        <p:spPr>
          <a:xfrm>
            <a:off x="8284464" y="3246120"/>
            <a:ext cx="2779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73D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e-commerce platform standardization story.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713232" y="4773168"/>
            <a:ext cx="10561320" cy="640080"/>
          </a:xfrm>
          <a:prstGeom prst="roundRect">
            <a:avLst/>
          </a:prstGeom>
          <a:solidFill>
            <a:srgbClr val="04342C"/>
          </a:solidFill>
          <a:ln w="11430">
            <a:solidFill>
              <a:srgbClr val="04342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7552" y="4965192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F1EF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TODO-METRIC: attach client-approved evidence before external distribution.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64465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6E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Northlace modernization sales deck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0F6E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85216" y="384048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04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Replace assumptions with the client's week-one baseline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03504" y="1005840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3D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ROI model is a conversation tool. It becomes credible only after assessment data replaces estimates.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6995160" cy="4297680"/>
          </a:xfrm>
          <a:prstGeom prst="roundRect">
            <a:avLst/>
          </a:prstGeom>
          <a:solidFill>
            <a:srgbClr val="E1F5EE"/>
          </a:solidFill>
          <a:ln w="11430">
            <a:solidFill>
              <a:srgbClr val="9FE1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71907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4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Value lever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566160" y="17190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4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Annual value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102352" y="171907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4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Assumption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205740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73D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Baseline annual cloud spend</a:t>
            </a:r>
            <a:endParaRPr lang="en-US" sz="830" dirty="0"/>
          </a:p>
        </p:txBody>
      </p:sp>
      <p:sp>
        <p:nvSpPr>
          <p:cNvPr id="11" name="Text 9"/>
          <p:cNvSpPr/>
          <p:nvPr/>
        </p:nvSpPr>
        <p:spPr>
          <a:xfrm>
            <a:off x="3566160" y="205740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73D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$2,400,000</a:t>
            </a:r>
            <a:endParaRPr lang="en-US" sz="830" dirty="0"/>
          </a:p>
        </p:txBody>
      </p:sp>
      <p:sp>
        <p:nvSpPr>
          <p:cNvPr id="12" name="Text 10"/>
          <p:cNvSpPr/>
          <p:nvPr/>
        </p:nvSpPr>
        <p:spPr>
          <a:xfrm>
            <a:off x="5102352" y="205740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73D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spend of $200K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68680" y="244144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73D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cost optimization</a:t>
            </a:r>
            <a:endParaRPr lang="en-US" sz="830" dirty="0"/>
          </a:p>
        </p:txBody>
      </p:sp>
      <p:sp>
        <p:nvSpPr>
          <p:cNvPr id="14" name="Text 12"/>
          <p:cNvSpPr/>
          <p:nvPr/>
        </p:nvSpPr>
        <p:spPr>
          <a:xfrm>
            <a:off x="3566160" y="244144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73D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$600,000</a:t>
            </a:r>
            <a:endParaRPr lang="en-US" sz="830" dirty="0"/>
          </a:p>
        </p:txBody>
      </p:sp>
      <p:sp>
        <p:nvSpPr>
          <p:cNvPr id="15" name="Text 13"/>
          <p:cNvSpPr/>
          <p:nvPr/>
        </p:nvSpPr>
        <p:spPr>
          <a:xfrm>
            <a:off x="5102352" y="244144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73D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25% savings from rightsizing and waste cleanup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868680" y="2825496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73D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Release efficiency gain</a:t>
            </a:r>
            <a:endParaRPr lang="en-US" sz="830" dirty="0"/>
          </a:p>
        </p:txBody>
      </p:sp>
      <p:sp>
        <p:nvSpPr>
          <p:cNvPr id="17" name="Text 15"/>
          <p:cNvSpPr/>
          <p:nvPr/>
        </p:nvSpPr>
        <p:spPr>
          <a:xfrm>
            <a:off x="3566160" y="282549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73D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$360,000</a:t>
            </a:r>
            <a:endParaRPr lang="en-US" sz="830" dirty="0"/>
          </a:p>
        </p:txBody>
      </p:sp>
      <p:sp>
        <p:nvSpPr>
          <p:cNvPr id="18" name="Text 16"/>
          <p:cNvSpPr/>
          <p:nvPr/>
        </p:nvSpPr>
        <p:spPr>
          <a:xfrm>
            <a:off x="5102352" y="282549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73D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engineers x 15% capacity unlocked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868680" y="3209544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73D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Incident reduction value</a:t>
            </a:r>
            <a:endParaRPr lang="en-US" sz="830" dirty="0"/>
          </a:p>
        </p:txBody>
      </p:sp>
      <p:sp>
        <p:nvSpPr>
          <p:cNvPr id="20" name="Text 18"/>
          <p:cNvSpPr/>
          <p:nvPr/>
        </p:nvSpPr>
        <p:spPr>
          <a:xfrm>
            <a:off x="3566160" y="320954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73D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$300,000</a:t>
            </a:r>
            <a:endParaRPr lang="en-US" sz="830" dirty="0"/>
          </a:p>
        </p:txBody>
      </p:sp>
      <p:sp>
        <p:nvSpPr>
          <p:cNvPr id="21" name="Text 19"/>
          <p:cNvSpPr/>
          <p:nvPr/>
        </p:nvSpPr>
        <p:spPr>
          <a:xfrm>
            <a:off x="5102352" y="320954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73D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avoided hours x estimated business impact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868680" y="3593592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73D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risk reduction</a:t>
            </a:r>
            <a:endParaRPr lang="en-US" sz="830" dirty="0"/>
          </a:p>
        </p:txBody>
      </p:sp>
      <p:sp>
        <p:nvSpPr>
          <p:cNvPr id="23" name="Text 21"/>
          <p:cNvSpPr/>
          <p:nvPr/>
        </p:nvSpPr>
        <p:spPr>
          <a:xfrm>
            <a:off x="3566160" y="359359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73D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$250,000</a:t>
            </a:r>
            <a:endParaRPr lang="en-US" sz="830" dirty="0"/>
          </a:p>
        </p:txBody>
      </p:sp>
      <p:sp>
        <p:nvSpPr>
          <p:cNvPr id="24" name="Text 22"/>
          <p:cNvSpPr/>
          <p:nvPr/>
        </p:nvSpPr>
        <p:spPr>
          <a:xfrm>
            <a:off x="5102352" y="359359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73D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Avoided remediation, audit, and exposure proxy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868680" y="397764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73D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annual benefit</a:t>
            </a:r>
            <a:endParaRPr lang="en-US" sz="830" dirty="0"/>
          </a:p>
        </p:txBody>
      </p:sp>
      <p:sp>
        <p:nvSpPr>
          <p:cNvPr id="26" name="Text 24"/>
          <p:cNvSpPr/>
          <p:nvPr/>
        </p:nvSpPr>
        <p:spPr>
          <a:xfrm>
            <a:off x="3566160" y="397764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0F6E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$1,510,000</a:t>
            </a:r>
            <a:endParaRPr lang="en-US" sz="830" dirty="0"/>
          </a:p>
        </p:txBody>
      </p:sp>
      <p:sp>
        <p:nvSpPr>
          <p:cNvPr id="27" name="Text 25"/>
          <p:cNvSpPr/>
          <p:nvPr/>
        </p:nvSpPr>
        <p:spPr>
          <a:xfrm>
            <a:off x="5102352" y="397764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73D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Illustrative benefit pool before investment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868680" y="436168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73D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 program investment</a:t>
            </a:r>
            <a:endParaRPr lang="en-US" sz="830" dirty="0"/>
          </a:p>
        </p:txBody>
      </p:sp>
      <p:sp>
        <p:nvSpPr>
          <p:cNvPr id="29" name="Text 27"/>
          <p:cNvSpPr/>
          <p:nvPr/>
        </p:nvSpPr>
        <p:spPr>
          <a:xfrm>
            <a:off x="3566160" y="436168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0F6E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($650,000)</a:t>
            </a:r>
            <a:endParaRPr lang="en-US" sz="830" dirty="0"/>
          </a:p>
        </p:txBody>
      </p:sp>
      <p:sp>
        <p:nvSpPr>
          <p:cNvPr id="30" name="Text 28"/>
          <p:cNvSpPr/>
          <p:nvPr/>
        </p:nvSpPr>
        <p:spPr>
          <a:xfrm>
            <a:off x="5102352" y="436168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73D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Assessment, pilot, migration waves, automation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868680" y="4745736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73D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Illustrative net value</a:t>
            </a:r>
            <a:endParaRPr lang="en-US" sz="830" dirty="0"/>
          </a:p>
        </p:txBody>
      </p:sp>
      <p:sp>
        <p:nvSpPr>
          <p:cNvPr id="32" name="Text 30"/>
          <p:cNvSpPr/>
          <p:nvPr/>
        </p:nvSpPr>
        <p:spPr>
          <a:xfrm>
            <a:off x="3566160" y="474573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0F6E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$860,000</a:t>
            </a:r>
            <a:endParaRPr lang="en-US" sz="830" dirty="0"/>
          </a:p>
        </p:txBody>
      </p:sp>
      <p:sp>
        <p:nvSpPr>
          <p:cNvPr id="33" name="Text 31"/>
          <p:cNvSpPr/>
          <p:nvPr/>
        </p:nvSpPr>
        <p:spPr>
          <a:xfrm>
            <a:off x="5102352" y="474573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73D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132% ROI and payback inside year one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7936992" y="1481328"/>
            <a:ext cx="3310128" cy="4297680"/>
          </a:xfrm>
          <a:prstGeom prst="roundRect">
            <a:avLst/>
          </a:prstGeom>
          <a:solidFill>
            <a:srgbClr val="04342C"/>
          </a:solidFill>
          <a:ln w="11430">
            <a:solidFill>
              <a:srgbClr val="04342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0" y="17830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1EF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to use this slide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229600" y="2240280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1EF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Replace assumptions with client baseline.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229600" y="2770632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1EF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Validate savings with assessment data.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229600" y="3300984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1EF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Separate hard savings from productivity and risk value.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229600" y="3831336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1EF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Use a pilot to prove the first 90-day value case.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13232" y="5888736"/>
            <a:ext cx="10332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6E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Illustrative only; final ROI depends on baseline spend, application criticality, delivery scope, and adoption.</a:t>
            </a:r>
            <a:endParaRPr lang="en-US" sz="93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434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64465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F1EF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Northlace modernization sales deck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1EF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85216" y="384048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1EF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free, prove value in a pilot, then scale what works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03504" y="1005840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9FE1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offer ladder keeps the first yes small while making the scale path obvious.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68096" y="1783080"/>
            <a:ext cx="3163824" cy="2377440"/>
          </a:xfrm>
          <a:prstGeom prst="roundRect">
            <a:avLst/>
          </a:prstGeom>
          <a:solidFill>
            <a:srgbClr val="04342C"/>
          </a:solidFill>
          <a:ln w="11430">
            <a:solidFill>
              <a:srgbClr val="5DCAA5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0482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5DCA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 assessment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2542032"/>
            <a:ext cx="2633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F1EF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No-cost discovery and baseline review across cloud readiness, cost, security, and modernization entry points.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4453128" y="1783080"/>
            <a:ext cx="3163824" cy="2377440"/>
          </a:xfrm>
          <a:prstGeom prst="roundRect">
            <a:avLst/>
          </a:prstGeom>
          <a:solidFill>
            <a:srgbClr val="04342C"/>
          </a:solidFill>
          <a:ln w="11430">
            <a:solidFill>
              <a:srgbClr val="5DCAA5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90872" y="20482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5DCA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90-day pilot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90872" y="2542032"/>
            <a:ext cx="2633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F1EF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$12K example entry price for one scoped workload or capability. TODO-PRICE: confirm pricing and scope bands.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8138160" y="1783080"/>
            <a:ext cx="3163824" cy="2377440"/>
          </a:xfrm>
          <a:prstGeom prst="roundRect">
            <a:avLst/>
          </a:prstGeom>
          <a:solidFill>
            <a:srgbClr val="04342C"/>
          </a:solidFill>
          <a:ln w="11430">
            <a:solidFill>
              <a:srgbClr val="5DCAA5">
                <a:alpha val="8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75904" y="20482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5DCA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 and operate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375904" y="2542032"/>
            <a:ext cx="2633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F1EF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 waves, platform squad, modernization factory, or managed operations based on pilot evidence.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932688" y="4809744"/>
            <a:ext cx="10104120" cy="658368"/>
          </a:xfrm>
          <a:prstGeom prst="roundRect">
            <a:avLst/>
          </a:prstGeom>
          <a:solidFill>
            <a:srgbClr val="5DCAA5"/>
          </a:solidFill>
          <a:ln w="11430">
            <a:solidFill>
              <a:srgbClr val="5DCAA5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70432" y="5010912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60" dirty="0">
                <a:solidFill>
                  <a:srgbClr val="04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quick wins found in the assessment routinely fund the pilot. Gated download decision: HUMAN_DECISION_GATE, default ungated for this publication.</a:t>
            </a:r>
            <a:endParaRPr lang="en-US" sz="126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64465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6E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Northlace modernization sales deck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0F6E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85216" y="384048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04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Take the deck to leadership, then choose the first workload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03504" y="1005840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3D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 with a free assessment, a 90-day pilot, baseline KPIs, and a funded modernization roadmap.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58368" y="1627632"/>
            <a:ext cx="4892040" cy="786384"/>
          </a:xfrm>
          <a:prstGeom prst="roundRect">
            <a:avLst/>
          </a:prstGeom>
          <a:solidFill>
            <a:srgbClr val="E1F5EE"/>
          </a:solidFill>
          <a:ln w="11430">
            <a:solidFill>
              <a:srgbClr val="9FE1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17556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4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readiness assessment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59536" y="2029968"/>
            <a:ext cx="4279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73D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 inventory, dependency map, migration risk, downtime tolerance, and target cloud fit.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6126480" y="1627632"/>
            <a:ext cx="4892040" cy="786384"/>
          </a:xfrm>
          <a:prstGeom prst="roundRect">
            <a:avLst/>
          </a:prstGeom>
          <a:solidFill>
            <a:srgbClr val="E1F5EE"/>
          </a:solidFill>
          <a:ln w="11430">
            <a:solidFill>
              <a:srgbClr val="9FE1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27648" y="17556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4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cost assessment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327648" y="2029968"/>
            <a:ext cx="4279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73D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Spend baseline, idle waste, tagging gaps, commitment usage, quick wins, and FinOps roadmap.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658368" y="2724912"/>
            <a:ext cx="4892040" cy="786384"/>
          </a:xfrm>
          <a:prstGeom prst="roundRect">
            <a:avLst/>
          </a:prstGeom>
          <a:solidFill>
            <a:srgbClr val="E1F5EE"/>
          </a:solidFill>
          <a:ln w="11430">
            <a:solidFill>
              <a:srgbClr val="9FE1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" y="285292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4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assessment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59536" y="3127248"/>
            <a:ext cx="4279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73D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posture, app/API testing scope, IAM risk, encryption gaps, and remediation priorities.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6126480" y="2724912"/>
            <a:ext cx="4892040" cy="786384"/>
          </a:xfrm>
          <a:prstGeom prst="roundRect">
            <a:avLst/>
          </a:prstGeom>
          <a:solidFill>
            <a:srgbClr val="E1F5EE"/>
          </a:solidFill>
          <a:ln w="11430">
            <a:solidFill>
              <a:srgbClr val="9FE1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27648" y="285292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4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Modernization assessment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327648" y="3127248"/>
            <a:ext cx="4279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73D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debt map, UX friction, data/integration gaps, AI readiness, and modernization backlog.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749808" y="4663440"/>
            <a:ext cx="10442448" cy="713232"/>
          </a:xfrm>
          <a:prstGeom prst="roundRect">
            <a:avLst/>
          </a:prstGeom>
          <a:solidFill>
            <a:srgbClr val="04342C"/>
          </a:solidFill>
          <a:ln w="11430">
            <a:solidFill>
              <a:srgbClr val="04342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4873752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dirty="0">
                <a:solidFill>
                  <a:srgbClr val="F1EF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Recommended close: book a 60-minute discovery session, share baseline artifacts, and receive a prioritized roadmap with quick wins and investment options.</a:t>
            </a:r>
            <a:endParaRPr lang="en-US" sz="124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434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64465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F1EF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Northlace modernization sales deck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1EF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800" dirty="0"/>
          </a:p>
        </p:txBody>
      </p:sp>
      <p:pic>
        <p:nvPicPr>
          <p:cNvPr id="4" name="Image 0" descr="/Users/adeel.arshad/Documents/Codex/2026-06-30/files-mentioned-by-the-user-00/work/deck-qa/tmp/embed-assets/northlace-locku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3657600" cy="10424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13232" y="2395728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1EF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Northlace runs modernization as one standard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749808" y="3273552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DCA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what changes. Shield what matters. Ledger what costs. Shift what must modernize.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786384" y="4681728"/>
            <a:ext cx="7635240" cy="640080"/>
          </a:xfrm>
          <a:prstGeom prst="roundRect">
            <a:avLst/>
          </a:prstGeom>
          <a:solidFill>
            <a:srgbClr val="04342C"/>
          </a:solidFill>
          <a:ln w="11430">
            <a:solidFill>
              <a:srgbClr val="5DCAA5">
                <a:alpha val="85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24128" y="4882896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1EF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step: choose one workload, confirm the assessment artifacts, and decide the 90-day pilot sponsor. Contact link: #TODO-LINK.</a:t>
            </a:r>
            <a:endParaRPr lang="en-US" sz="12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Northlace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Northlace Modernization Sales Deck</dc:title>
  <dc:subject>Modernization sales deck</dc:subject>
  <dc:creator>Northlace</dc:creator>
  <cp:lastModifiedBy>Northlace</cp:lastModifiedBy>
  <cp:revision>1</cp:revision>
  <dcterms:created xsi:type="dcterms:W3CDTF">2026-07-06T00:00:00Z</dcterms:created>
  <dcterms:modified xsi:type="dcterms:W3CDTF">2026-07-06T00:00:00Z</dcterms:modified>
</cp:coreProperties>
</file>